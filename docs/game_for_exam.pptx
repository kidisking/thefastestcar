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5" r:id="rId4"/>
    <p:sldId id="264" r:id="rId5"/>
    <p:sldId id="266" r:id="rId6"/>
    <p:sldId id="268" r:id="rId7"/>
    <p:sldId id="267" r:id="rId8"/>
    <p:sldId id="275" r:id="rId9"/>
    <p:sldId id="269" r:id="rId10"/>
    <p:sldId id="276" r:id="rId11"/>
    <p:sldId id="272" r:id="rId12"/>
    <p:sldId id="277" r:id="rId13"/>
    <p:sldId id="273" r:id="rId14"/>
    <p:sldId id="270" r:id="rId15"/>
    <p:sldId id="271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1" autoAdjust="0"/>
    <p:restoredTop sz="94660"/>
  </p:normalViewPr>
  <p:slideViewPr>
    <p:cSldViewPr snapToGrid="0">
      <p:cViewPr varScale="1">
        <p:scale>
          <a:sx n="90" d="100"/>
          <a:sy n="90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2.bin"/><Relationship Id="rId7" Type="http://schemas.openxmlformats.org/officeDocument/2006/relationships/hyperlink" Target="https://github.com/KidIsKing/TheFastestCar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hyperlink" Target="https://disk.yandex.ru/d/ndOzvxI_8bMHd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r="1"/>
          <a:stretch/>
        </p:blipFill>
        <p:spPr>
          <a:xfrm>
            <a:off x="0" y="0"/>
            <a:ext cx="12149211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</p:spPr>
      </p:pic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629724"/>
              </p:ext>
            </p:extLst>
          </p:nvPr>
        </p:nvGraphicFramePr>
        <p:xfrm>
          <a:off x="10103851" y="440000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03851" y="440000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ru-RU" sz="54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TheFastestCar</a:t>
            </a:r>
            <a:endParaRPr lang="ru-RU" altLang="ru-RU" sz="5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499408" y="4798350"/>
            <a:ext cx="5647765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Выполнила: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Масалова Яна Александровна</a:t>
            </a:r>
            <a:endParaRPr lang="ru-RU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Группа </a:t>
            </a:r>
            <a:r>
              <a:rPr lang="ru-RU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РИ-150912 </a:t>
            </a:r>
            <a:endParaRPr lang="ru-RU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Преподаватель: </a:t>
            </a:r>
            <a:r>
              <a:rPr lang="ru-RU" sz="2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Царегородцев</a:t>
            </a:r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Г.П.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305449"/>
              </p:ext>
            </p:extLst>
          </p:nvPr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293EF-572C-7200-2803-E8F23973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Основная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2508F-162E-E2EE-401C-C5CC093E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0607"/>
            <a:ext cx="12191999" cy="3438109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Жанр</a:t>
            </a:r>
            <a:r>
              <a:rPr lang="ru-RU" dirty="0"/>
              <a:t>: </a:t>
            </a:r>
            <a:r>
              <a:rPr lang="en-US" dirty="0"/>
              <a:t>2D-</a:t>
            </a:r>
            <a:r>
              <a:rPr lang="ru-RU" dirty="0"/>
              <a:t>аркада / бесконечный </a:t>
            </a:r>
            <a:r>
              <a:rPr lang="ru-RU" dirty="0" err="1"/>
              <a:t>раннер</a:t>
            </a:r>
            <a:r>
              <a:rPr lang="ru-RU" dirty="0"/>
              <a:t> с видом сверху.</a:t>
            </a:r>
            <a:endParaRPr lang="ru-RU" dirty="0" smtClean="0"/>
          </a:p>
          <a:p>
            <a:r>
              <a:rPr lang="ru-RU" b="1" dirty="0" smtClean="0"/>
              <a:t>Игрок</a:t>
            </a:r>
            <a:r>
              <a:rPr lang="ru-RU" dirty="0"/>
              <a:t>: </a:t>
            </a:r>
            <a:r>
              <a:rPr lang="ru-RU" dirty="0" smtClean="0"/>
              <a:t>водитель машины, который управляет </a:t>
            </a:r>
            <a:r>
              <a:rPr lang="ru-RU" dirty="0"/>
              <a:t>автомобилем на многополосном шоссе, может перестраиваться влево/вправо, ускоряться/тормозить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Цель</a:t>
            </a:r>
            <a:r>
              <a:rPr lang="ru-RU" dirty="0"/>
              <a:t>: продержаться как можно дольше</a:t>
            </a:r>
            <a:r>
              <a:rPr lang="ru-RU" dirty="0" smtClean="0"/>
              <a:t>, избегая столкновений с другими машинами, </a:t>
            </a:r>
            <a:r>
              <a:rPr lang="ru-RU" dirty="0"/>
              <a:t>набрать максимум очков за обгон машин-противников. Каждое успешное опережение даёт очки (бонус за скорость).</a:t>
            </a:r>
            <a:endParaRPr lang="en-US" dirty="0"/>
          </a:p>
          <a:p>
            <a:r>
              <a:rPr lang="ru-RU" b="1" dirty="0"/>
              <a:t>Описание</a:t>
            </a:r>
            <a:r>
              <a:rPr lang="ru-RU" dirty="0"/>
              <a:t>: «</a:t>
            </a:r>
            <a:r>
              <a:rPr lang="ru-RU" dirty="0" err="1"/>
              <a:t>TheFastestCar</a:t>
            </a:r>
            <a:r>
              <a:rPr lang="ru-RU" dirty="0"/>
              <a:t>» – динамичная аркада, в которой игрок мчится по бесконечному шоссе. Скорость постепенно растёт, врагов становится больше, их поведение эволюционирует. Собирайте жёлтые бонусы для восстановления здоровья и дополнительных очков. Избегайте столкновений – каждое ДТП отнимает здоровье, а при его обнулении игра заканчивается.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803" y="4133488"/>
            <a:ext cx="3751140" cy="272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F76-5A9C-D8C9-28CE-D7F5BD68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FCB8FF8-92B5-63D2-6679-687AFEBAD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F35A129-9FAC-5C5F-D1FE-6A81090AB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A99822-F949-02D9-B8BA-DE31C75DA1F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1626F8-1D38-152E-F7F6-8E86648D30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77095-EC5C-C4B5-9863-1207DFD6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Игровые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F49C4-CDD7-EAD5-2E34-D854D894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700"/>
            <a:ext cx="12192000" cy="3299647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Передвижение</a:t>
            </a:r>
            <a:r>
              <a:rPr lang="ru-RU" dirty="0"/>
              <a:t>: WASD/стрелки </a:t>
            </a:r>
            <a:r>
              <a:rPr lang="ru-RU" dirty="0" smtClean="0"/>
              <a:t>-</a:t>
            </a:r>
            <a:r>
              <a:rPr lang="en-US" dirty="0" smtClean="0"/>
              <a:t>&gt;</a:t>
            </a:r>
            <a:r>
              <a:rPr lang="ru-RU" dirty="0" smtClean="0"/>
              <a:t> </a:t>
            </a:r>
            <a:r>
              <a:rPr lang="ru-RU" dirty="0"/>
              <a:t>машина двигается влево/вправо -</a:t>
            </a:r>
            <a:r>
              <a:rPr lang="en-US" dirty="0"/>
              <a:t>&gt;</a:t>
            </a:r>
            <a:r>
              <a:rPr lang="ru-RU" dirty="0" smtClean="0"/>
              <a:t> </a:t>
            </a:r>
            <a:r>
              <a:rPr lang="ru-RU" dirty="0"/>
              <a:t>нельзя выйти за границы дороги (ограничение в </a:t>
            </a:r>
            <a:r>
              <a:rPr lang="ru-RU" dirty="0" err="1"/>
              <a:t>Player.update</a:t>
            </a:r>
            <a:r>
              <a:rPr lang="ru-RU" dirty="0"/>
              <a:t>())</a:t>
            </a:r>
            <a:endParaRPr lang="ru-RU" dirty="0" smtClean="0"/>
          </a:p>
          <a:p>
            <a:r>
              <a:rPr lang="ru-RU" b="1" dirty="0"/>
              <a:t>Ускорение</a:t>
            </a:r>
            <a:r>
              <a:rPr lang="ru-RU" dirty="0"/>
              <a:t>: удержание W/↑ -</a:t>
            </a:r>
            <a:r>
              <a:rPr lang="en-US" dirty="0"/>
              <a:t>&gt;</a:t>
            </a:r>
            <a:r>
              <a:rPr lang="ru-RU" dirty="0" smtClean="0"/>
              <a:t> </a:t>
            </a:r>
            <a:r>
              <a:rPr lang="ru-RU" dirty="0"/>
              <a:t>плавный рост скорости до 15 -</a:t>
            </a:r>
            <a:r>
              <a:rPr lang="en-US" dirty="0"/>
              <a:t>&gt;</a:t>
            </a:r>
            <a:r>
              <a:rPr lang="ru-RU" dirty="0" smtClean="0"/>
              <a:t> визуальный </a:t>
            </a:r>
            <a:r>
              <a:rPr lang="ru-RU" dirty="0"/>
              <a:t>«подъём» машины (параллакс-эффект) </a:t>
            </a:r>
            <a:endParaRPr lang="en-US" dirty="0" smtClean="0"/>
          </a:p>
          <a:p>
            <a:r>
              <a:rPr lang="ru-RU" b="1" dirty="0" err="1"/>
              <a:t>Спавн</a:t>
            </a:r>
            <a:r>
              <a:rPr lang="ru-RU" b="1" dirty="0"/>
              <a:t> врагов</a:t>
            </a:r>
            <a:r>
              <a:rPr lang="ru-RU" dirty="0"/>
              <a:t>: таймер + взвешенный выбор -</a:t>
            </a:r>
            <a:r>
              <a:rPr lang="en-US" dirty="0"/>
              <a:t>&gt;</a:t>
            </a:r>
            <a:r>
              <a:rPr lang="ru-RU" dirty="0" smtClean="0"/>
              <a:t> 1-3 </a:t>
            </a:r>
            <a:r>
              <a:rPr lang="ru-RU" dirty="0"/>
              <a:t>машины появляются в случайной полосе -</a:t>
            </a:r>
            <a:r>
              <a:rPr lang="en-US" dirty="0"/>
              <a:t>&gt;</a:t>
            </a:r>
            <a:r>
              <a:rPr lang="ru-RU" dirty="0" smtClean="0"/>
              <a:t> сложность </a:t>
            </a:r>
            <a:r>
              <a:rPr lang="ru-RU" dirty="0"/>
              <a:t>растёт квадратично от скорости (</a:t>
            </a:r>
            <a:r>
              <a:rPr lang="ru-RU" dirty="0" err="1"/>
              <a:t>get_spawn_interval</a:t>
            </a:r>
            <a:r>
              <a:rPr lang="ru-RU" dirty="0" smtClean="0"/>
              <a:t>())</a:t>
            </a:r>
            <a:endParaRPr lang="en-US" dirty="0" smtClean="0"/>
          </a:p>
          <a:p>
            <a:r>
              <a:rPr lang="ru-RU" b="1" dirty="0"/>
              <a:t>Коллизии</a:t>
            </a:r>
            <a:r>
              <a:rPr lang="ru-RU" dirty="0"/>
              <a:t>: </a:t>
            </a:r>
            <a:r>
              <a:rPr lang="ru-RU" dirty="0" err="1"/>
              <a:t>хитбоксы</a:t>
            </a:r>
            <a:r>
              <a:rPr lang="ru-RU" dirty="0"/>
              <a:t> &lt; спрайтов -</a:t>
            </a:r>
            <a:r>
              <a:rPr lang="en-US" dirty="0"/>
              <a:t>&gt;</a:t>
            </a:r>
            <a:r>
              <a:rPr lang="ru-RU" dirty="0" smtClean="0"/>
              <a:t> </a:t>
            </a:r>
            <a:r>
              <a:rPr lang="ru-RU" dirty="0"/>
              <a:t>при пересечении: </a:t>
            </a:r>
            <a:r>
              <a:rPr lang="ru-RU" dirty="0" smtClean="0"/>
              <a:t>урон </a:t>
            </a:r>
            <a:r>
              <a:rPr lang="ru-RU" dirty="0"/>
              <a:t>= </a:t>
            </a:r>
            <a:r>
              <a:rPr lang="en-US" dirty="0" err="1"/>
              <a:t>base_damage</a:t>
            </a:r>
            <a:r>
              <a:rPr lang="en-US" dirty="0"/>
              <a:t> ± gauss(15%) </a:t>
            </a:r>
            <a:r>
              <a:rPr lang="ru-RU" dirty="0"/>
              <a:t>-</a:t>
            </a:r>
            <a:r>
              <a:rPr lang="en-US" dirty="0"/>
              <a:t>&gt;</a:t>
            </a:r>
            <a:r>
              <a:rPr lang="en-US" dirty="0" smtClean="0"/>
              <a:t> </a:t>
            </a:r>
            <a:r>
              <a:rPr lang="ru-RU" dirty="0"/>
              <a:t>визуальный эффект </a:t>
            </a:r>
            <a:r>
              <a:rPr lang="ru-RU" dirty="0" smtClean="0"/>
              <a:t>огня</a:t>
            </a:r>
            <a:endParaRPr lang="en-US" dirty="0" smtClean="0"/>
          </a:p>
          <a:p>
            <a:r>
              <a:rPr lang="ru-RU" b="1" dirty="0"/>
              <a:t>Бонусы</a:t>
            </a:r>
            <a:r>
              <a:rPr lang="ru-RU" dirty="0"/>
              <a:t>: сбор -</a:t>
            </a:r>
            <a:r>
              <a:rPr lang="en-US" dirty="0"/>
              <a:t>&gt;</a:t>
            </a:r>
            <a:r>
              <a:rPr lang="ru-RU" dirty="0" smtClean="0"/>
              <a:t> </a:t>
            </a:r>
            <a:r>
              <a:rPr lang="ru-RU" dirty="0"/>
              <a:t>+очки + лечение (гауссово, 20±5) -</a:t>
            </a:r>
            <a:r>
              <a:rPr lang="en-US" dirty="0"/>
              <a:t>&gt;</a:t>
            </a:r>
            <a:r>
              <a:rPr lang="ru-RU" dirty="0" smtClean="0"/>
              <a:t> здоровье </a:t>
            </a:r>
            <a:r>
              <a:rPr lang="ru-RU" dirty="0"/>
              <a:t>не превышает </a:t>
            </a:r>
            <a:r>
              <a:rPr lang="ru-RU" dirty="0" smtClean="0"/>
              <a:t>100</a:t>
            </a:r>
            <a:endParaRPr lang="en-US" dirty="0" smtClean="0"/>
          </a:p>
          <a:p>
            <a:r>
              <a:rPr lang="ru-RU" b="1" dirty="0" smtClean="0"/>
              <a:t>Интерфейс</a:t>
            </a:r>
            <a:r>
              <a:rPr lang="ru-RU" b="1" dirty="0"/>
              <a:t>: </a:t>
            </a:r>
            <a:r>
              <a:rPr lang="ru-RU" dirty="0"/>
              <a:t>здоровье (полоса HP), счёт, рекорд, текущая скорость (отображаются в реальном времени</a:t>
            </a:r>
            <a:r>
              <a:rPr lang="ru-RU" dirty="0" smtClean="0"/>
              <a:t>).</a:t>
            </a:r>
          </a:p>
          <a:p>
            <a:r>
              <a:rPr lang="ru-RU" b="1" dirty="0" smtClean="0"/>
              <a:t>Эволюция </a:t>
            </a:r>
            <a:r>
              <a:rPr lang="ru-RU" b="1" dirty="0"/>
              <a:t>врагов</a:t>
            </a:r>
            <a:r>
              <a:rPr lang="ru-RU" dirty="0"/>
              <a:t>: каждые 10 </a:t>
            </a:r>
            <a:r>
              <a:rPr lang="ru-RU" dirty="0" err="1"/>
              <a:t>спавнов</a:t>
            </a:r>
            <a:r>
              <a:rPr lang="ru-RU" dirty="0"/>
              <a:t> -</a:t>
            </a:r>
            <a:r>
              <a:rPr lang="en-US" dirty="0"/>
              <a:t>&gt;</a:t>
            </a:r>
            <a:r>
              <a:rPr lang="ru-RU" dirty="0" smtClean="0"/>
              <a:t> ГА </a:t>
            </a:r>
            <a:r>
              <a:rPr lang="ru-RU" dirty="0"/>
              <a:t>оценивает популяцию -</a:t>
            </a:r>
            <a:r>
              <a:rPr lang="en-US" dirty="0"/>
              <a:t>&gt;</a:t>
            </a:r>
            <a:r>
              <a:rPr lang="ru-RU" dirty="0" smtClean="0"/>
              <a:t> </a:t>
            </a:r>
            <a:r>
              <a:rPr lang="ru-RU" dirty="0"/>
              <a:t>новые параметры </a:t>
            </a:r>
            <a:r>
              <a:rPr lang="ru-RU" dirty="0" smtClean="0"/>
              <a:t>агрессии/</a:t>
            </a:r>
            <a:r>
              <a:rPr lang="ru-RU" dirty="0" err="1" smtClean="0"/>
              <a:t>дрифта</a:t>
            </a:r>
            <a:r>
              <a:rPr lang="en-US" dirty="0"/>
              <a:t>.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392" y="4522802"/>
            <a:ext cx="5220429" cy="20386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6763" y="4333494"/>
            <a:ext cx="1794500" cy="241724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205" y="4379906"/>
            <a:ext cx="143847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EE61-5ADC-0CCE-37C8-97D0EEEB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F35A129-9FAC-5C5F-D1FE-6A81090AB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A679F0-6BD3-1DB2-666D-AA1F7C51665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5894C0-241B-5C7C-A66F-CEE1A6BF12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30D63-8051-4386-5ECF-CB3601C5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7710"/>
            <a:ext cx="12192000" cy="1605264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Функциональные</a:t>
            </a:r>
            <a:r>
              <a:rPr lang="ru-RU" dirty="0" smtClean="0"/>
              <a:t>:</a:t>
            </a:r>
            <a:endParaRPr lang="en-US" dirty="0" smtClean="0"/>
          </a:p>
          <a:p>
            <a:pPr lvl="1"/>
            <a:r>
              <a:rPr lang="ru-RU" dirty="0" smtClean="0"/>
              <a:t>Игрок </a:t>
            </a:r>
            <a:r>
              <a:rPr lang="ru-RU" dirty="0"/>
              <a:t>может проехать минимум 30 секунд без </a:t>
            </a:r>
            <a:r>
              <a:rPr lang="ru-RU" dirty="0" smtClean="0"/>
              <a:t>столкновений</a:t>
            </a:r>
            <a:endParaRPr lang="en-US" dirty="0" smtClean="0"/>
          </a:p>
          <a:p>
            <a:pPr lvl="1"/>
            <a:r>
              <a:rPr lang="ru-RU" dirty="0"/>
              <a:t>Враги эволюционируют каждые 10 </a:t>
            </a:r>
            <a:r>
              <a:rPr lang="ru-RU" dirty="0" err="1"/>
              <a:t>спавнов</a:t>
            </a:r>
            <a:r>
              <a:rPr lang="ru-RU" dirty="0"/>
              <a:t> (проверка: параметры меняются</a:t>
            </a:r>
            <a:r>
              <a:rPr lang="ru-RU" dirty="0" smtClean="0"/>
              <a:t>)</a:t>
            </a:r>
            <a:endParaRPr lang="en-US" dirty="0" smtClean="0"/>
          </a:p>
          <a:p>
            <a:pPr lvl="1"/>
            <a:r>
              <a:rPr lang="ru-RU" dirty="0"/>
              <a:t>Бонусы появляются с частотой, зависящей от </a:t>
            </a:r>
            <a:r>
              <a:rPr lang="ru-RU" dirty="0" smtClean="0"/>
              <a:t>скорости</a:t>
            </a:r>
            <a:endParaRPr lang="ru-RU" dirty="0"/>
          </a:p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 txBox="1">
            <a:spLocks/>
          </p:cNvSpPr>
          <p:nvPr/>
        </p:nvSpPr>
        <p:spPr>
          <a:xfrm>
            <a:off x="0" y="4008230"/>
            <a:ext cx="12192000" cy="12051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Критерии готовности</a:t>
            </a:r>
            <a:r>
              <a:rPr lang="ru-RU" dirty="0" smtClean="0"/>
              <a:t>:</a:t>
            </a:r>
            <a:endParaRPr lang="en-US" dirty="0" smtClean="0"/>
          </a:p>
          <a:p>
            <a:pPr lvl="1"/>
            <a:r>
              <a:rPr lang="ru-RU" dirty="0"/>
              <a:t>Есть экран аварии с перезапуском по </a:t>
            </a:r>
            <a:r>
              <a:rPr lang="ru-RU" dirty="0" smtClean="0"/>
              <a:t>SPACE</a:t>
            </a:r>
            <a:endParaRPr lang="en-US" dirty="0" smtClean="0"/>
          </a:p>
          <a:p>
            <a:pPr lvl="1"/>
            <a:r>
              <a:rPr lang="ru-RU" dirty="0"/>
              <a:t>UI: счёт, рекорд, здоровье, скорость в реальном </a:t>
            </a:r>
            <a:r>
              <a:rPr lang="ru-RU" dirty="0" smtClean="0"/>
              <a:t>времени</a:t>
            </a:r>
            <a:endParaRPr lang="en-US" dirty="0" smtClean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 txBox="1">
            <a:spLocks/>
          </p:cNvSpPr>
          <p:nvPr/>
        </p:nvSpPr>
        <p:spPr>
          <a:xfrm>
            <a:off x="0" y="2462463"/>
            <a:ext cx="12192000" cy="15062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/>
              <a:t>Технические</a:t>
            </a:r>
            <a:r>
              <a:rPr lang="ru-RU" dirty="0" smtClean="0"/>
              <a:t>:</a:t>
            </a:r>
            <a:endParaRPr lang="en-US" dirty="0" smtClean="0"/>
          </a:p>
          <a:p>
            <a:pPr lvl="1"/>
            <a:r>
              <a:rPr lang="ru-RU" dirty="0"/>
              <a:t>FPS ≥ 55 при 15 врагах и 5 бонусах на </a:t>
            </a:r>
            <a:r>
              <a:rPr lang="ru-RU" dirty="0" smtClean="0"/>
              <a:t>экране</a:t>
            </a:r>
            <a:endParaRPr lang="en-US" dirty="0" smtClean="0"/>
          </a:p>
          <a:p>
            <a:pPr lvl="1"/>
            <a:r>
              <a:rPr lang="ru-RU" dirty="0" err="1"/>
              <a:t>Хитбоксы</a:t>
            </a:r>
            <a:r>
              <a:rPr lang="ru-RU" dirty="0"/>
              <a:t> обновляются каждый кадр (проверка: нет «</a:t>
            </a:r>
            <a:r>
              <a:rPr lang="ru-RU" dirty="0" err="1"/>
              <a:t>проскакиваний</a:t>
            </a:r>
            <a:r>
              <a:rPr lang="ru-RU" dirty="0" smtClean="0"/>
              <a:t>»)</a:t>
            </a:r>
            <a:endParaRPr lang="en-US" dirty="0" smtClean="0"/>
          </a:p>
          <a:p>
            <a:pPr lvl="1"/>
            <a:r>
              <a:rPr lang="ru-RU" dirty="0"/>
              <a:t>Случайность детерминирована при фиксированном </a:t>
            </a:r>
            <a:r>
              <a:rPr lang="ru-RU" dirty="0" err="1"/>
              <a:t>seed</a:t>
            </a:r>
            <a:r>
              <a:rPr lang="ru-RU" dirty="0"/>
              <a:t> (мастер-генератор</a:t>
            </a:r>
            <a:r>
              <a:rPr lang="ru-RU" dirty="0" smtClean="0"/>
              <a:t>)</a:t>
            </a:r>
            <a:endParaRPr lang="en-US" dirty="0" smtClean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 txBox="1">
            <a:spLocks/>
          </p:cNvSpPr>
          <p:nvPr/>
        </p:nvSpPr>
        <p:spPr>
          <a:xfrm>
            <a:off x="0" y="5276972"/>
            <a:ext cx="12192000" cy="10244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/>
              <a:t>В дальнейшем в планах</a:t>
            </a:r>
            <a:r>
              <a:rPr lang="ru-RU" dirty="0" smtClean="0"/>
              <a:t>:</a:t>
            </a:r>
            <a:endParaRPr lang="en-US" dirty="0" smtClean="0"/>
          </a:p>
          <a:p>
            <a:pPr lvl="1"/>
            <a:r>
              <a:rPr lang="ru-RU" dirty="0" smtClean="0"/>
              <a:t>Сохранения </a:t>
            </a:r>
            <a:r>
              <a:rPr lang="ru-RU" dirty="0"/>
              <a:t>прогресса в </a:t>
            </a:r>
            <a:r>
              <a:rPr lang="ru-RU" dirty="0" smtClean="0"/>
              <a:t>файл</a:t>
            </a:r>
          </a:p>
          <a:p>
            <a:pPr lvl="1"/>
            <a:r>
              <a:rPr lang="ru-RU" dirty="0" smtClean="0"/>
              <a:t>Главное меню с настройками игры, и режим полного экрана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321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2255-3F4F-34F6-FF63-9E9EE34C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FA781BD-0E50-F689-1C99-F7DD3A0E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FCB8FF8-92B5-63D2-6679-687AFEBAD5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C66736-B908-7604-DCF8-3A5D8197945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854CE2-6A4C-E602-B410-D63168E8B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A5246-CC82-FC30-856D-EB3D123B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 проекта. Общий обзор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C2B48-41A4-EC75-580C-AC098442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8275"/>
            <a:ext cx="4540102" cy="4817114"/>
          </a:xfrm>
        </p:spPr>
        <p:txBody>
          <a:bodyPr>
            <a:normAutofit/>
          </a:bodyPr>
          <a:lstStyle/>
          <a:p>
            <a:r>
              <a:rPr lang="ru-RU" sz="2000" dirty="0"/>
              <a:t>Используемая архитектура: </a:t>
            </a:r>
            <a:r>
              <a:rPr lang="ru-RU" sz="2000" b="1" dirty="0"/>
              <a:t>Упрощённый </a:t>
            </a:r>
            <a:r>
              <a:rPr lang="en-US" sz="2000" b="1" dirty="0"/>
              <a:t>Model-View (</a:t>
            </a:r>
            <a:r>
              <a:rPr lang="ru-RU" sz="2000" b="1" dirty="0"/>
              <a:t>адаптация под </a:t>
            </a:r>
            <a:r>
              <a:rPr lang="en-US" sz="2000" b="1" dirty="0" err="1"/>
              <a:t>PyGame</a:t>
            </a:r>
            <a:r>
              <a:rPr lang="en-US" sz="2000" b="1" dirty="0" smtClean="0"/>
              <a:t>)</a:t>
            </a:r>
            <a:endParaRPr lang="ru-RU" sz="2000" b="1" dirty="0" smtClean="0"/>
          </a:p>
          <a:p>
            <a:r>
              <a:rPr lang="ru-RU" sz="2000" dirty="0" smtClean="0"/>
              <a:t>Почему </a:t>
            </a:r>
            <a:r>
              <a:rPr lang="ru-RU" sz="2000" dirty="0"/>
              <a:t>не чистый </a:t>
            </a:r>
            <a:r>
              <a:rPr lang="en-US" sz="2000" dirty="0"/>
              <a:t>MVC</a:t>
            </a:r>
            <a:r>
              <a:rPr lang="en-US" sz="2000" dirty="0" smtClean="0"/>
              <a:t>?</a:t>
            </a:r>
            <a:endParaRPr lang="ru-RU" sz="2000" dirty="0" smtClean="0"/>
          </a:p>
          <a:p>
            <a:pPr lvl="1"/>
            <a:r>
              <a:rPr lang="ru-RU" sz="1600" dirty="0" err="1"/>
              <a:t>PyGame</a:t>
            </a:r>
            <a:r>
              <a:rPr lang="ru-RU" sz="1600" dirty="0"/>
              <a:t> объединяет цикл ввода, обновления и </a:t>
            </a:r>
            <a:r>
              <a:rPr lang="ru-RU" sz="1600" dirty="0" err="1"/>
              <a:t>отрисовки</a:t>
            </a:r>
            <a:r>
              <a:rPr lang="ru-RU" sz="1600" dirty="0" smtClean="0"/>
              <a:t>.</a:t>
            </a:r>
          </a:p>
          <a:p>
            <a:pPr lvl="1"/>
            <a:r>
              <a:rPr lang="ru-RU" sz="1600" dirty="0" smtClean="0"/>
              <a:t>В дальнейшем переход на </a:t>
            </a:r>
            <a:r>
              <a:rPr lang="en-US" sz="1600" dirty="0" smtClean="0"/>
              <a:t>MVC</a:t>
            </a:r>
            <a:r>
              <a:rPr lang="ru-RU" sz="1600" dirty="0" smtClean="0"/>
              <a:t> планируется</a:t>
            </a:r>
          </a:p>
          <a:p>
            <a:r>
              <a:rPr lang="ru-RU" sz="2000" dirty="0" smtClean="0"/>
              <a:t>Ключевые компоненты: </a:t>
            </a:r>
          </a:p>
          <a:p>
            <a:pPr lvl="1"/>
            <a:r>
              <a:rPr lang="ru-RU" sz="1600" b="1" dirty="0" err="1"/>
              <a:t>Game</a:t>
            </a:r>
            <a:r>
              <a:rPr lang="ru-RU" sz="1600" dirty="0"/>
              <a:t>: обработка ввода, таймеры, координация </a:t>
            </a:r>
            <a:r>
              <a:rPr lang="ru-RU" sz="1600" dirty="0" err="1"/>
              <a:t>update</a:t>
            </a:r>
            <a:r>
              <a:rPr lang="ru-RU" sz="1600" dirty="0"/>
              <a:t>/</a:t>
            </a:r>
            <a:r>
              <a:rPr lang="ru-RU" sz="1600" dirty="0" err="1"/>
              <a:t>draw</a:t>
            </a:r>
            <a:endParaRPr lang="ru-RU" sz="1600" dirty="0"/>
          </a:p>
          <a:p>
            <a:pPr lvl="1"/>
            <a:r>
              <a:rPr lang="en-US" sz="1600" b="1" dirty="0"/>
              <a:t>Entities (Player, Enemy, Bonus)</a:t>
            </a:r>
            <a:r>
              <a:rPr lang="en-US" sz="1600" dirty="0"/>
              <a:t>: </a:t>
            </a:r>
            <a:r>
              <a:rPr lang="ru-RU" sz="1600" dirty="0"/>
              <a:t>состояние, физика, </a:t>
            </a:r>
            <a:r>
              <a:rPr lang="ru-RU" sz="1600" dirty="0" err="1"/>
              <a:t>хитбоксы</a:t>
            </a:r>
            <a:endParaRPr lang="ru-RU" sz="1600" dirty="0"/>
          </a:p>
          <a:p>
            <a:pPr lvl="1"/>
            <a:r>
              <a:rPr lang="ru-RU" sz="1600" b="1" dirty="0" err="1"/>
              <a:t>GeneticAlgorithm</a:t>
            </a:r>
            <a:r>
              <a:rPr lang="ru-RU" sz="1600" dirty="0"/>
              <a:t>: независимая подсистема эволюции параметров</a:t>
            </a:r>
          </a:p>
          <a:p>
            <a:pPr lvl="1"/>
            <a:r>
              <a:rPr lang="ru-RU" sz="1600" b="1" dirty="0" err="1"/>
              <a:t>FloatingText</a:t>
            </a:r>
            <a:r>
              <a:rPr lang="ru-RU" sz="1600" dirty="0"/>
              <a:t>: визуальная обратная связь без блокировки </a:t>
            </a:r>
            <a:r>
              <a:rPr lang="ru-RU" sz="1600" dirty="0" smtClean="0"/>
              <a:t>цикла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886" y="2062717"/>
            <a:ext cx="7663789" cy="31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4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B2D4-A8EB-9580-233D-F445FE0D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9626BCC6-EAF0-EC4C-C799-798976F0F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4097C8D-6A62-ACE3-097B-27087E8D0F1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4913DE-E977-804E-2320-58743AB818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C7D7-B27A-6AA8-5443-3FCCB2FA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68" y="1004087"/>
            <a:ext cx="2495898" cy="57062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4703" y="1590661"/>
            <a:ext cx="7230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Структура</a:t>
            </a:r>
            <a:r>
              <a:rPr lang="ru-RU" dirty="0" smtClean="0"/>
              <a:t>: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src</a:t>
            </a:r>
            <a:r>
              <a:rPr lang="en-US" dirty="0"/>
              <a:t>/          # </a:t>
            </a:r>
            <a:r>
              <a:rPr lang="ru-RU" dirty="0"/>
              <a:t>Логика (</a:t>
            </a:r>
            <a:r>
              <a:rPr lang="en-US" dirty="0"/>
              <a:t>main.py</a:t>
            </a:r>
            <a:r>
              <a:rPr lang="en-US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tests/        # </a:t>
            </a:r>
            <a:r>
              <a:rPr lang="ru-RU" dirty="0"/>
              <a:t>Юнит-тесты (</a:t>
            </a:r>
            <a:r>
              <a:rPr lang="en-US" dirty="0" err="1"/>
              <a:t>pytest</a:t>
            </a:r>
            <a:r>
              <a:rPr lang="en-US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assets/       # </a:t>
            </a:r>
            <a:r>
              <a:rPr lang="ru-RU" dirty="0" smtClean="0"/>
              <a:t>Спрайты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Docs/</a:t>
            </a:r>
            <a:r>
              <a:rPr lang="ru-RU" dirty="0" smtClean="0"/>
              <a:t>     </a:t>
            </a:r>
            <a:r>
              <a:rPr lang="en-US" dirty="0" smtClean="0"/>
              <a:t># </a:t>
            </a:r>
            <a:r>
              <a:rPr lang="ru-RU" dirty="0" smtClean="0"/>
              <a:t>Документация и прочие файлы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2864703" y="3252655"/>
            <a:ext cx="93272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Связи модулей</a:t>
            </a:r>
            <a:r>
              <a:rPr lang="ru-RU" dirty="0" smtClean="0"/>
              <a:t>: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Game</a:t>
            </a:r>
            <a:r>
              <a:rPr lang="ru-RU" dirty="0"/>
              <a:t> создаёт экземпляры объектов, управляет </a:t>
            </a:r>
            <a:r>
              <a:rPr lang="ru-RU" dirty="0" smtClean="0"/>
              <a:t>циклом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Enemy</a:t>
            </a:r>
            <a:r>
              <a:rPr lang="ru-RU" dirty="0"/>
              <a:t> получает готовый </a:t>
            </a:r>
            <a:r>
              <a:rPr lang="ru-RU" dirty="0" err="1"/>
              <a:t>Genome</a:t>
            </a:r>
            <a:r>
              <a:rPr lang="ru-RU" dirty="0"/>
              <a:t> от GA (не создаёт сам</a:t>
            </a:r>
            <a:r>
              <a:rPr lang="ru-RU" dirty="0" smtClean="0"/>
              <a:t>)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Коллизии проверяются в </a:t>
            </a:r>
            <a:r>
              <a:rPr lang="ru-RU" dirty="0" err="1"/>
              <a:t>Game</a:t>
            </a:r>
            <a:r>
              <a:rPr lang="ru-RU" dirty="0"/>
              <a:t>, урон считает </a:t>
            </a:r>
            <a:r>
              <a:rPr lang="ru-RU" dirty="0" err="1"/>
              <a:t>Enemy</a:t>
            </a:r>
            <a:r>
              <a:rPr lang="ru-RU" dirty="0"/>
              <a:t> (разделение логики</a:t>
            </a:r>
            <a:r>
              <a:rPr lang="ru-RU" dirty="0" smtClean="0"/>
              <a:t>)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Изолированные </a:t>
            </a:r>
            <a:r>
              <a:rPr lang="en-US" dirty="0"/>
              <a:t>RNG: spawn, enemy, bonus, master </a:t>
            </a:r>
            <a:r>
              <a:rPr lang="en-US" dirty="0" smtClean="0"/>
              <a:t>-&gt; </a:t>
            </a:r>
            <a:r>
              <a:rPr lang="ru-RU" dirty="0"/>
              <a:t>детерминированность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350" y="6064027"/>
            <a:ext cx="5912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(архитектура будет дорабатываться в будущем,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ак как сейчас </a:t>
            </a:r>
            <a:r>
              <a:rPr lang="ru-RU" dirty="0" smtClean="0"/>
              <a:t>вся логика сосредоточена в одном </a:t>
            </a:r>
            <a:r>
              <a:rPr lang="en-US" dirty="0" smtClean="0"/>
              <a:t>main.py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83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979E-5339-F9BD-363A-E5F237C6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EC5BE12-4B18-A41C-B320-790F62769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F6FE215-7872-131B-1412-4F663C1C19C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153B6A-31B2-DD4D-78A2-EFDF5D012E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02C8-6F66-9532-62EA-4CADE0E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F4FD9-0BE5-2D0C-408F-4DE8EEEA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700"/>
            <a:ext cx="7432158" cy="58799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Первый алгоритм: </a:t>
            </a:r>
            <a:r>
              <a:rPr lang="ru-RU" b="1" dirty="0"/>
              <a:t>Взвешенный выбор (</a:t>
            </a:r>
            <a:r>
              <a:rPr lang="ru-RU" b="1" dirty="0" err="1"/>
              <a:t>WeightedChoiceTable</a:t>
            </a:r>
            <a:r>
              <a:rPr lang="ru-RU" sz="2700" b="1" dirty="0"/>
              <a:t>)</a:t>
            </a:r>
            <a:r>
              <a:rPr lang="en-US" sz="2700" b="1" dirty="0"/>
              <a:t> + Shuffle Bag</a:t>
            </a:r>
            <a:r>
              <a:rPr lang="ru-RU" sz="2700" dirty="0"/>
              <a:t>.</a:t>
            </a:r>
          </a:p>
          <a:p>
            <a:r>
              <a:rPr lang="ru-RU" dirty="0"/>
              <a:t>Зачем:  Чтобы </a:t>
            </a:r>
            <a:r>
              <a:rPr lang="ru-RU" dirty="0" err="1"/>
              <a:t>спавн</a:t>
            </a:r>
            <a:r>
              <a:rPr lang="ru-RU" dirty="0"/>
              <a:t> врагов был непредсказуемым, но справедливым: </a:t>
            </a:r>
            <a:endParaRPr lang="en-US" dirty="0" smtClean="0"/>
          </a:p>
          <a:p>
            <a:pPr lvl="1"/>
            <a:r>
              <a:rPr lang="ru-RU" dirty="0"/>
              <a:t>на низкой скорости чаще 1 </a:t>
            </a:r>
            <a:r>
              <a:rPr lang="ru-RU" dirty="0" smtClean="0"/>
              <a:t>враг</a:t>
            </a:r>
            <a:endParaRPr lang="en-US" dirty="0" smtClean="0"/>
          </a:p>
          <a:p>
            <a:pPr lvl="1"/>
            <a:r>
              <a:rPr lang="ru-RU" dirty="0"/>
              <a:t>на высокой — группы по </a:t>
            </a:r>
            <a:r>
              <a:rPr lang="ru-RU" dirty="0" smtClean="0"/>
              <a:t>2-3</a:t>
            </a:r>
            <a:endParaRPr lang="en-US" dirty="0" smtClean="0"/>
          </a:p>
          <a:p>
            <a:pPr lvl="1"/>
            <a:r>
              <a:rPr lang="ru-RU" dirty="0"/>
              <a:t>позиции не повторяются подряд</a:t>
            </a:r>
            <a:endParaRPr lang="en-US" dirty="0" smtClean="0"/>
          </a:p>
          <a:p>
            <a:r>
              <a:rPr lang="ru-RU" dirty="0" smtClean="0"/>
              <a:t>Как </a:t>
            </a:r>
            <a:r>
              <a:rPr lang="ru-RU" dirty="0"/>
              <a:t>реализован в проекте:</a:t>
            </a:r>
            <a:endParaRPr lang="en-US" dirty="0"/>
          </a:p>
          <a:p>
            <a:pPr lvl="1"/>
            <a:r>
              <a:rPr lang="ru-RU" dirty="0" smtClean="0"/>
              <a:t>Класс</a:t>
            </a:r>
            <a:r>
              <a:rPr lang="ru-RU" dirty="0"/>
              <a:t> </a:t>
            </a:r>
            <a:r>
              <a:rPr lang="en-US" b="1" i="1" dirty="0" err="1" smtClean="0"/>
              <a:t>WeightedChoiceTable</a:t>
            </a:r>
            <a:r>
              <a:rPr lang="ru-RU" dirty="0" smtClean="0"/>
              <a:t> </a:t>
            </a:r>
            <a:r>
              <a:rPr lang="ru-RU" dirty="0"/>
              <a:t>хранит список элементов и кумулятивные </a:t>
            </a:r>
            <a:r>
              <a:rPr lang="ru-RU" dirty="0" smtClean="0"/>
              <a:t>веса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b="1" i="1" dirty="0" err="1"/>
              <a:t>ShuffleBag</a:t>
            </a:r>
            <a:r>
              <a:rPr lang="ru-RU" dirty="0" smtClean="0"/>
              <a:t>.</a:t>
            </a:r>
          </a:p>
          <a:p>
            <a:pPr lvl="1"/>
            <a:r>
              <a:rPr lang="ru-RU" dirty="0"/>
              <a:t>вызывается в </a:t>
            </a:r>
            <a:r>
              <a:rPr lang="ru-RU" b="1" i="1" dirty="0" err="1"/>
              <a:t>get_spawn_count</a:t>
            </a:r>
            <a:r>
              <a:rPr lang="ru-RU" b="1" i="1" dirty="0"/>
              <a:t>() </a:t>
            </a:r>
            <a:r>
              <a:rPr lang="ru-RU" dirty="0"/>
              <a:t>и </a:t>
            </a:r>
            <a:r>
              <a:rPr lang="ru-RU" b="1" i="1" dirty="0" err="1"/>
              <a:t>spawn_enemy</a:t>
            </a:r>
            <a:r>
              <a:rPr lang="ru-RU" b="1" i="1" dirty="0" smtClean="0"/>
              <a:t>()</a:t>
            </a:r>
          </a:p>
          <a:p>
            <a:r>
              <a:rPr lang="ru-RU" dirty="0" smtClean="0"/>
              <a:t>Входные данные:</a:t>
            </a:r>
            <a:endParaRPr lang="en-US" dirty="0" smtClean="0"/>
          </a:p>
          <a:p>
            <a:pPr lvl="1"/>
            <a:r>
              <a:rPr lang="ru-RU" dirty="0"/>
              <a:t>Текущая скорость игрока (нормализованная 0..1</a:t>
            </a:r>
            <a:r>
              <a:rPr lang="ru-RU" dirty="0" smtClean="0"/>
              <a:t>).</a:t>
            </a:r>
          </a:p>
          <a:p>
            <a:pPr lvl="1"/>
            <a:r>
              <a:rPr lang="ru-RU" dirty="0"/>
              <a:t>Список возможных позиций </a:t>
            </a:r>
            <a:r>
              <a:rPr lang="ru-RU" dirty="0" err="1"/>
              <a:t>спавна</a:t>
            </a:r>
            <a:r>
              <a:rPr lang="ru-RU" dirty="0"/>
              <a:t> (5 полос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Выходные данные: </a:t>
            </a:r>
            <a:endParaRPr lang="en-US" dirty="0" smtClean="0"/>
          </a:p>
          <a:p>
            <a:pPr lvl="1"/>
            <a:r>
              <a:rPr lang="ru-RU" dirty="0" smtClean="0"/>
              <a:t>Выбранный </a:t>
            </a:r>
            <a:r>
              <a:rPr lang="ru-RU" dirty="0"/>
              <a:t>элемент (количество </a:t>
            </a:r>
            <a:r>
              <a:rPr lang="ru-RU" dirty="0" err="1"/>
              <a:t>спавнящихся</a:t>
            </a:r>
            <a:r>
              <a:rPr lang="ru-RU" dirty="0"/>
              <a:t> врагов</a:t>
            </a:r>
            <a:r>
              <a:rPr lang="ru-RU" dirty="0" smtClean="0"/>
              <a:t>). </a:t>
            </a:r>
          </a:p>
          <a:p>
            <a:pPr lvl="1"/>
            <a:r>
              <a:rPr lang="ru-RU" dirty="0"/>
              <a:t>Координата </a:t>
            </a:r>
            <a:r>
              <a:rPr lang="en-US" dirty="0"/>
              <a:t>X </a:t>
            </a:r>
            <a:r>
              <a:rPr lang="ru-RU" dirty="0"/>
              <a:t>для </a:t>
            </a:r>
            <a:r>
              <a:rPr lang="ru-RU" dirty="0" err="1"/>
              <a:t>спавна</a:t>
            </a:r>
            <a:endParaRPr lang="ru-RU" dirty="0"/>
          </a:p>
          <a:p>
            <a:r>
              <a:rPr lang="ru-RU" dirty="0"/>
              <a:t>Сложность по времени/памяти: </a:t>
            </a:r>
            <a:endParaRPr lang="en-US" dirty="0"/>
          </a:p>
          <a:p>
            <a:pPr lvl="1"/>
            <a:r>
              <a:rPr lang="en-US" b="1" i="1" dirty="0" err="1"/>
              <a:t>WeightedChoiceTable.roll</a:t>
            </a:r>
            <a:r>
              <a:rPr lang="en-US" b="1" i="1" dirty="0"/>
              <a:t>()</a:t>
            </a:r>
            <a:r>
              <a:rPr lang="en-US" dirty="0"/>
              <a:t>: O(log n) </a:t>
            </a:r>
            <a:r>
              <a:rPr lang="ru-RU" dirty="0"/>
              <a:t>благодаря </a:t>
            </a:r>
            <a:r>
              <a:rPr lang="en-US" dirty="0" smtClean="0"/>
              <a:t>bisect</a:t>
            </a:r>
            <a:r>
              <a:rPr lang="ru-RU" dirty="0" smtClean="0"/>
              <a:t>.</a:t>
            </a:r>
          </a:p>
          <a:p>
            <a:pPr lvl="1"/>
            <a:r>
              <a:rPr lang="ru-RU" b="1" i="1" dirty="0" err="1"/>
              <a:t>ShuffleBag.draw</a:t>
            </a:r>
            <a:r>
              <a:rPr lang="ru-RU" b="1" i="1" dirty="0"/>
              <a:t>()</a:t>
            </a:r>
            <a:r>
              <a:rPr lang="ru-RU" dirty="0"/>
              <a:t>: O(1) </a:t>
            </a:r>
            <a:r>
              <a:rPr lang="ru-RU" dirty="0" err="1"/>
              <a:t>амортизированно</a:t>
            </a:r>
            <a:r>
              <a:rPr lang="ru-RU" dirty="0"/>
              <a:t> (перемешивание O(n) раз в |</a:t>
            </a:r>
            <a:r>
              <a:rPr lang="ru-RU" dirty="0" err="1"/>
              <a:t>bag</a:t>
            </a:r>
            <a:r>
              <a:rPr lang="ru-RU" dirty="0"/>
              <a:t>| вызовов)</a:t>
            </a:r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909" y="884729"/>
            <a:ext cx="3910706" cy="58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7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61" y="1250973"/>
            <a:ext cx="6535062" cy="497274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923" y="2465670"/>
            <a:ext cx="5312947" cy="2382777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EC5BE12-4B18-A41C-B320-790F62769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CorelDRAW" r:id="rId5" imgW="2566457" imgH="894201" progId="CorelDraw.Graphic.22">
                  <p:embed/>
                </p:oleObj>
              </mc:Choice>
              <mc:Fallback>
                <p:oleObj name="CorelDRAW" r:id="rId5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EC5BE12-4B18-A41C-B320-790F62769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6FE215-7872-131B-1412-4F663C1C19C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153B6A-31B2-DD4D-78A2-EFDF5D012E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B6902C8-6F66-9532-62EA-4CADE0EF34D9}"/>
              </a:ext>
            </a:extLst>
          </p:cNvPr>
          <p:cNvSpPr txBox="1">
            <a:spLocks/>
          </p:cNvSpPr>
          <p:nvPr/>
        </p:nvSpPr>
        <p:spPr>
          <a:xfrm>
            <a:off x="1571517" y="76567"/>
            <a:ext cx="9111712" cy="834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Алгоритмы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10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5BB3-6308-F18C-D1C9-0AED248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EC5BE12-4B18-A41C-B320-790F62769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467CB-2E61-E50E-D9FE-0F1D677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0607"/>
            <a:ext cx="9303488" cy="5947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Второй </a:t>
            </a:r>
            <a:r>
              <a:rPr lang="ru-RU" sz="2700" dirty="0"/>
              <a:t>алгоритм: </a:t>
            </a:r>
            <a:r>
              <a:rPr lang="ru-RU" sz="2700" b="1" dirty="0"/>
              <a:t>Генетический алгоритм</a:t>
            </a:r>
          </a:p>
          <a:p>
            <a:r>
              <a:rPr lang="ru-RU" dirty="0" smtClean="0"/>
              <a:t>Зачем:</a:t>
            </a:r>
          </a:p>
          <a:p>
            <a:pPr lvl="1"/>
            <a:r>
              <a:rPr lang="ru-RU" dirty="0"/>
              <a:t>Чтобы враги не были «одинаковыми болванками</a:t>
            </a:r>
            <a:r>
              <a:rPr lang="ru-RU" dirty="0" smtClean="0"/>
              <a:t>»</a:t>
            </a:r>
          </a:p>
          <a:p>
            <a:pPr lvl="1"/>
            <a:r>
              <a:rPr lang="ru-RU" dirty="0"/>
              <a:t>Параметры (агрессия, </a:t>
            </a:r>
            <a:r>
              <a:rPr lang="ru-RU" dirty="0" err="1"/>
              <a:t>дрифт</a:t>
            </a:r>
            <a:r>
              <a:rPr lang="ru-RU" dirty="0"/>
              <a:t>, рывки) эволюционируют в ходе </a:t>
            </a:r>
            <a:r>
              <a:rPr lang="ru-RU" dirty="0" smtClean="0"/>
              <a:t>сессии</a:t>
            </a:r>
            <a:endParaRPr lang="ru-RU" dirty="0"/>
          </a:p>
          <a:p>
            <a:r>
              <a:rPr lang="ru-RU" dirty="0" smtClean="0"/>
              <a:t>Как </a:t>
            </a:r>
            <a:r>
              <a:rPr lang="ru-RU" dirty="0"/>
              <a:t>реализован в проекте:</a:t>
            </a:r>
            <a:endParaRPr lang="en-US" dirty="0"/>
          </a:p>
          <a:p>
            <a:pPr lvl="1"/>
            <a:r>
              <a:rPr lang="ru-RU" dirty="0"/>
              <a:t>классы </a:t>
            </a:r>
            <a:r>
              <a:rPr lang="en-US" b="1" i="1" dirty="0" err="1"/>
              <a:t>GeneticAlgorithm</a:t>
            </a:r>
            <a:r>
              <a:rPr lang="en-US" dirty="0"/>
              <a:t>, </a:t>
            </a:r>
            <a:r>
              <a:rPr lang="en-US" b="1" i="1" dirty="0" err="1" smtClean="0"/>
              <a:t>EnemyGenome</a:t>
            </a:r>
            <a:endParaRPr lang="ru-RU" b="1" i="1" dirty="0"/>
          </a:p>
          <a:p>
            <a:pPr lvl="1"/>
            <a:r>
              <a:rPr lang="ru-RU" dirty="0"/>
              <a:t>каждые 10 </a:t>
            </a:r>
            <a:r>
              <a:rPr lang="ru-RU" dirty="0" err="1"/>
              <a:t>спавнов</a:t>
            </a:r>
            <a:r>
              <a:rPr lang="ru-RU" dirty="0"/>
              <a:t> вызывается </a:t>
            </a:r>
            <a:r>
              <a:rPr lang="ru-RU" b="1" i="1" dirty="0" err="1"/>
              <a:t>ga.evolve</a:t>
            </a:r>
            <a:r>
              <a:rPr lang="ru-RU" b="1" i="1" dirty="0"/>
              <a:t>()</a:t>
            </a:r>
            <a:endParaRPr lang="ru-RU" b="1" i="1" dirty="0" smtClean="0"/>
          </a:p>
          <a:p>
            <a:r>
              <a:rPr lang="ru-RU" dirty="0" smtClean="0"/>
              <a:t>Входные данные:</a:t>
            </a:r>
            <a:endParaRPr lang="en-US" dirty="0" smtClean="0"/>
          </a:p>
          <a:p>
            <a:pPr lvl="1"/>
            <a:r>
              <a:rPr lang="ru-RU" dirty="0"/>
              <a:t>Популяция из 8 геномов (каждый: </a:t>
            </a:r>
            <a:r>
              <a:rPr lang="ru-RU" b="1" i="1" dirty="0"/>
              <a:t>[</a:t>
            </a:r>
            <a:r>
              <a:rPr lang="en-US" b="1" i="1" dirty="0"/>
              <a:t>aggressiveness, </a:t>
            </a:r>
            <a:r>
              <a:rPr lang="en-US" b="1" i="1" dirty="0" err="1"/>
              <a:t>burst_rate</a:t>
            </a:r>
            <a:r>
              <a:rPr lang="en-US" b="1" i="1" dirty="0"/>
              <a:t>, </a:t>
            </a:r>
            <a:r>
              <a:rPr lang="en-US" b="1" i="1" dirty="0" err="1"/>
              <a:t>drift_intensity</a:t>
            </a:r>
            <a:r>
              <a:rPr lang="en-US" b="1" i="1" dirty="0"/>
              <a:t>]</a:t>
            </a:r>
            <a:r>
              <a:rPr lang="en-US" dirty="0"/>
              <a:t>)</a:t>
            </a:r>
            <a:r>
              <a:rPr lang="ru-RU" dirty="0" smtClean="0"/>
              <a:t>.</a:t>
            </a:r>
          </a:p>
          <a:p>
            <a:pPr lvl="1"/>
            <a:r>
              <a:rPr lang="ru-RU" dirty="0"/>
              <a:t>Фитнес-функция: эвристика баланса параметров</a:t>
            </a:r>
          </a:p>
          <a:p>
            <a:r>
              <a:rPr lang="ru-RU" dirty="0"/>
              <a:t>Выходные данные: </a:t>
            </a:r>
            <a:endParaRPr lang="en-US" dirty="0"/>
          </a:p>
          <a:p>
            <a:pPr lvl="1"/>
            <a:r>
              <a:rPr lang="ru-RU" dirty="0"/>
              <a:t>Лучший геном, который используется для следующих </a:t>
            </a:r>
            <a:r>
              <a:rPr lang="ru-RU" dirty="0" smtClean="0"/>
              <a:t>врагов.</a:t>
            </a:r>
            <a:endParaRPr lang="ru-RU" dirty="0"/>
          </a:p>
          <a:p>
            <a:r>
              <a:rPr lang="ru-RU" dirty="0"/>
              <a:t>Сложность по времени/памяти: </a:t>
            </a:r>
            <a:endParaRPr lang="en-US" dirty="0"/>
          </a:p>
          <a:p>
            <a:pPr lvl="1"/>
            <a:r>
              <a:rPr lang="ru-RU" dirty="0"/>
              <a:t>Оценка популяции: </a:t>
            </a:r>
            <a:r>
              <a:rPr lang="en-US" dirty="0"/>
              <a:t>O(</a:t>
            </a:r>
            <a:r>
              <a:rPr lang="en-US" b="1" i="1" dirty="0" err="1"/>
              <a:t>pop_size</a:t>
            </a:r>
            <a:r>
              <a:rPr lang="en-US" dirty="0"/>
              <a:t>) = O(8)</a:t>
            </a:r>
            <a:r>
              <a:rPr lang="ru-RU" dirty="0" smtClean="0"/>
              <a:t>.</a:t>
            </a:r>
          </a:p>
          <a:p>
            <a:pPr lvl="1"/>
            <a:r>
              <a:rPr lang="ru-RU" dirty="0"/>
              <a:t>Эволюция: O(</a:t>
            </a:r>
            <a:r>
              <a:rPr lang="ru-RU" b="1" i="1" dirty="0" err="1"/>
              <a:t>pop_size</a:t>
            </a:r>
            <a:r>
              <a:rPr lang="ru-RU" b="1" i="1" dirty="0"/>
              <a:t> </a:t>
            </a:r>
            <a:r>
              <a:rPr lang="en-US" b="1" i="1" dirty="0"/>
              <a:t>*</a:t>
            </a:r>
            <a:r>
              <a:rPr lang="ru-RU" b="1" i="1" dirty="0" smtClean="0"/>
              <a:t> </a:t>
            </a:r>
            <a:r>
              <a:rPr lang="ru-RU" b="1" i="1" dirty="0" err="1"/>
              <a:t>genes</a:t>
            </a:r>
            <a:r>
              <a:rPr lang="ru-RU" dirty="0"/>
              <a:t>) = константа для игры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981" y="957760"/>
            <a:ext cx="2184602" cy="585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6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 txBox="1">
            <a:spLocks/>
          </p:cNvSpPr>
          <p:nvPr/>
        </p:nvSpPr>
        <p:spPr>
          <a:xfrm>
            <a:off x="1571517" y="76567"/>
            <a:ext cx="9111712" cy="834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Алгоритмы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239" y="1458274"/>
            <a:ext cx="6341761" cy="4839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87274"/>
            <a:ext cx="5722445" cy="35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EED6-D0B8-D5CD-082A-8722BAB2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E090C4F-2E47-D1A8-EF05-DBE850FBF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BDE051-C0CB-1C98-140F-5C8DF0E2D64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962C45-51B6-894A-B9BD-1ABCA4305B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FD9C1-9E41-AE05-D8F0-204A5273E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E33467CB-2E61-E50E-D9FE-0F1D677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10608"/>
            <a:ext cx="5720316" cy="59473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 smtClean="0"/>
              <a:t>Третий </a:t>
            </a:r>
            <a:r>
              <a:rPr lang="ru-RU" sz="2700" dirty="0"/>
              <a:t>алгоритм: </a:t>
            </a:r>
            <a:r>
              <a:rPr lang="ru-RU" sz="2700" b="1" dirty="0"/>
              <a:t>Коллизии (</a:t>
            </a:r>
            <a:r>
              <a:rPr lang="en-US" sz="2700" b="1" dirty="0"/>
              <a:t>AABB + </a:t>
            </a:r>
            <a:r>
              <a:rPr lang="ru-RU" sz="2700" b="1" dirty="0" err="1"/>
              <a:t>хитбоксы</a:t>
            </a:r>
            <a:r>
              <a:rPr lang="ru-RU" sz="2700" b="1" dirty="0"/>
              <a:t>)</a:t>
            </a:r>
          </a:p>
          <a:p>
            <a:r>
              <a:rPr lang="ru-RU" dirty="0" smtClean="0"/>
              <a:t>Зачем:</a:t>
            </a:r>
          </a:p>
          <a:p>
            <a:pPr lvl="1"/>
            <a:r>
              <a:rPr lang="ru-RU" dirty="0"/>
              <a:t>Точная проверка столкновений без </a:t>
            </a:r>
            <a:r>
              <a:rPr lang="ru-RU" dirty="0" err="1"/>
              <a:t>попиксельного</a:t>
            </a:r>
            <a:r>
              <a:rPr lang="ru-RU" dirty="0"/>
              <a:t> </a:t>
            </a:r>
            <a:r>
              <a:rPr lang="ru-RU" dirty="0" smtClean="0"/>
              <a:t>перебора</a:t>
            </a:r>
          </a:p>
          <a:p>
            <a:pPr lvl="1"/>
            <a:r>
              <a:rPr lang="ru-RU" dirty="0" err="1" smtClean="0"/>
              <a:t>Хитбоксы</a:t>
            </a:r>
            <a:r>
              <a:rPr lang="ru-RU" dirty="0" smtClean="0"/>
              <a:t> меньше </a:t>
            </a:r>
            <a:r>
              <a:rPr lang="ru-RU" dirty="0"/>
              <a:t>спрайтов — игрок не умирает от «касания краем»</a:t>
            </a:r>
            <a:endParaRPr lang="ru-RU" dirty="0" smtClean="0"/>
          </a:p>
          <a:p>
            <a:r>
              <a:rPr lang="ru-RU" dirty="0" smtClean="0"/>
              <a:t>Как реализован в проекте:</a:t>
            </a:r>
            <a:endParaRPr lang="en-US" dirty="0" smtClean="0"/>
          </a:p>
          <a:p>
            <a:pPr lvl="1"/>
            <a:r>
              <a:rPr lang="ru-RU" dirty="0"/>
              <a:t>методы </a:t>
            </a:r>
            <a:r>
              <a:rPr lang="ru-RU" b="1" i="1" dirty="0"/>
              <a:t>_</a:t>
            </a:r>
            <a:r>
              <a:rPr lang="en-US" b="1" i="1" dirty="0" err="1"/>
              <a:t>update_hitbox</a:t>
            </a:r>
            <a:r>
              <a:rPr lang="en-US" b="1" i="1" dirty="0"/>
              <a:t>()</a:t>
            </a:r>
            <a:r>
              <a:rPr lang="en-US" dirty="0"/>
              <a:t>, </a:t>
            </a:r>
            <a:r>
              <a:rPr lang="en-US" b="1" i="1" dirty="0" err="1"/>
              <a:t>get_collision_enemy</a:t>
            </a:r>
            <a:r>
              <a:rPr lang="en-US" b="1" i="1" dirty="0"/>
              <a:t>()</a:t>
            </a:r>
            <a:endParaRPr lang="ru-RU" b="1" i="1" dirty="0" smtClean="0"/>
          </a:p>
          <a:p>
            <a:pPr lvl="1"/>
            <a:r>
              <a:rPr lang="ru-RU" dirty="0"/>
              <a:t>Используется встроенный </a:t>
            </a:r>
            <a:r>
              <a:rPr lang="en-US" b="1" i="1" dirty="0" err="1"/>
              <a:t>pygame.Rect.colliderect</a:t>
            </a:r>
            <a:r>
              <a:rPr lang="en-US" b="1" i="1" dirty="0"/>
              <a:t>()</a:t>
            </a:r>
            <a:r>
              <a:rPr lang="en-US" dirty="0"/>
              <a:t> (AABB)</a:t>
            </a:r>
            <a:endParaRPr lang="ru-RU" dirty="0" smtClean="0"/>
          </a:p>
          <a:p>
            <a:r>
              <a:rPr lang="ru-RU" dirty="0" smtClean="0"/>
              <a:t>Входные данные:</a:t>
            </a:r>
          </a:p>
          <a:p>
            <a:pPr lvl="1"/>
            <a:r>
              <a:rPr lang="ru-RU" dirty="0"/>
              <a:t>Позиции и размеры </a:t>
            </a:r>
            <a:r>
              <a:rPr lang="ru-RU" dirty="0" err="1"/>
              <a:t>хитбоксов</a:t>
            </a:r>
            <a:r>
              <a:rPr lang="ru-RU" dirty="0"/>
              <a:t> игрока и врага</a:t>
            </a:r>
            <a:endParaRPr lang="en-US" dirty="0" smtClean="0"/>
          </a:p>
          <a:p>
            <a:r>
              <a:rPr lang="ru-RU" dirty="0" smtClean="0"/>
              <a:t>Выходные </a:t>
            </a:r>
            <a:r>
              <a:rPr lang="ru-RU" dirty="0"/>
              <a:t>данные: </a:t>
            </a:r>
            <a:endParaRPr lang="en-US" dirty="0"/>
          </a:p>
          <a:p>
            <a:pPr lvl="1"/>
            <a:r>
              <a:rPr lang="en-US" dirty="0"/>
              <a:t>True/False: </a:t>
            </a:r>
            <a:r>
              <a:rPr lang="ru-RU" dirty="0"/>
              <a:t>произошло ли столкновение.</a:t>
            </a:r>
          </a:p>
          <a:p>
            <a:r>
              <a:rPr lang="ru-RU" dirty="0"/>
              <a:t>Сложность по времени/памяти: </a:t>
            </a:r>
            <a:endParaRPr lang="en-US" dirty="0"/>
          </a:p>
          <a:p>
            <a:pPr lvl="1"/>
            <a:r>
              <a:rPr lang="ru-RU" dirty="0"/>
              <a:t>O(1) на пару объектов, O(n) на проверку всех врагов (n ≤ 20</a:t>
            </a:r>
            <a:r>
              <a:rPr lang="ru-RU" dirty="0" smtClean="0"/>
              <a:t>)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880" y="2796363"/>
            <a:ext cx="6811701" cy="157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535" y="1004087"/>
            <a:ext cx="5867675" cy="33585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844" y="4615918"/>
            <a:ext cx="7365055" cy="2093226"/>
          </a:xfrm>
          <a:prstGeom prst="rect">
            <a:avLst/>
          </a:prstGeom>
        </p:spPr>
      </p:pic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CorelDRAW" r:id="rId5" imgW="2566457" imgH="894201" progId="CorelDraw.Graphic.22">
                  <p:embed/>
                </p:oleObj>
              </mc:Choice>
              <mc:Fallback>
                <p:oleObj name="CorelDRAW" r:id="rId5" imgW="2566457" imgH="894201" progId="CorelDraw.Graphic.22">
                  <p:embed/>
                  <p:pic>
                    <p:nvPicPr>
                      <p:cNvPr id="3" name="Объект 2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 txBox="1">
            <a:spLocks/>
          </p:cNvSpPr>
          <p:nvPr/>
        </p:nvSpPr>
        <p:spPr>
          <a:xfrm>
            <a:off x="1571517" y="76567"/>
            <a:ext cx="9111712" cy="8340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Алгоритмы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99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644A-F5BC-A5C6-0EA7-46CE1524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DC60564-F4BE-5F52-DF5A-F58C422C64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E090C4F-2E47-D1A8-EF05-DBE850FBF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86D2AF-E848-0A55-4FFE-D1DFCB79BB6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B9400B-51BC-1223-A981-1E4D53765E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1CE5C-AC8B-0A3A-4D0D-212A07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Тестирование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19954-C002-A155-84FB-D478D2F6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95" y="910607"/>
            <a:ext cx="10515600" cy="211648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Что тестировалось</a:t>
            </a:r>
            <a:r>
              <a:rPr lang="ru-RU" dirty="0" smtClean="0"/>
              <a:t>:</a:t>
            </a:r>
            <a:endParaRPr lang="en-US" dirty="0" smtClean="0"/>
          </a:p>
          <a:p>
            <a:pPr lvl="1"/>
            <a:r>
              <a:rPr lang="ru-RU" b="1" dirty="0"/>
              <a:t>Алгоритмы</a:t>
            </a:r>
            <a:r>
              <a:rPr lang="ru-RU" dirty="0"/>
              <a:t>: распределение весов, уникальность </a:t>
            </a:r>
            <a:r>
              <a:rPr lang="ru-RU" b="1" i="1" dirty="0" err="1"/>
              <a:t>ShuffleBag</a:t>
            </a:r>
            <a:r>
              <a:rPr lang="ru-RU" dirty="0"/>
              <a:t>, рост фитнеса </a:t>
            </a:r>
            <a:r>
              <a:rPr lang="ru-RU" dirty="0" smtClean="0"/>
              <a:t>ГА</a:t>
            </a:r>
            <a:endParaRPr lang="en-US" dirty="0" smtClean="0"/>
          </a:p>
          <a:p>
            <a:pPr lvl="1"/>
            <a:r>
              <a:rPr lang="ru-RU" b="1" dirty="0"/>
              <a:t>Коллизии AABB</a:t>
            </a:r>
            <a:r>
              <a:rPr lang="ru-RU" dirty="0"/>
              <a:t>: пересечение, разделение, касание </a:t>
            </a:r>
            <a:r>
              <a:rPr lang="ru-RU" dirty="0" err="1" smtClean="0"/>
              <a:t>краём</a:t>
            </a:r>
            <a:endParaRPr lang="en-US" dirty="0" smtClean="0"/>
          </a:p>
          <a:p>
            <a:pPr lvl="1"/>
            <a:r>
              <a:rPr lang="ru-RU" b="1" dirty="0" smtClean="0"/>
              <a:t>Логика</a:t>
            </a:r>
            <a:r>
              <a:rPr lang="ru-RU" dirty="0"/>
              <a:t>: интервал </a:t>
            </a:r>
            <a:r>
              <a:rPr lang="ru-RU" dirty="0" err="1"/>
              <a:t>спавна</a:t>
            </a:r>
            <a:r>
              <a:rPr lang="ru-RU" dirty="0"/>
              <a:t> </a:t>
            </a:r>
            <a:r>
              <a:rPr lang="ru-RU" dirty="0" smtClean="0"/>
              <a:t>уменьшался </a:t>
            </a:r>
            <a:r>
              <a:rPr lang="ru-RU" dirty="0"/>
              <a:t>при </a:t>
            </a:r>
            <a:r>
              <a:rPr lang="ru-RU" dirty="0" smtClean="0"/>
              <a:t>увеличении скорости</a:t>
            </a:r>
          </a:p>
          <a:p>
            <a:r>
              <a:rPr lang="ru-RU" dirty="0" smtClean="0"/>
              <a:t>Инструменты</a:t>
            </a:r>
            <a:r>
              <a:rPr lang="ru-RU" dirty="0"/>
              <a:t>: </a:t>
            </a:r>
            <a:r>
              <a:rPr lang="ru-RU" dirty="0" err="1"/>
              <a:t>pytest</a:t>
            </a:r>
            <a:r>
              <a:rPr lang="ru-RU" dirty="0"/>
              <a:t> 8.3, </a:t>
            </a:r>
            <a:r>
              <a:rPr lang="ru-RU" dirty="0" err="1"/>
              <a:t>фикстуры</a:t>
            </a:r>
            <a:r>
              <a:rPr lang="ru-RU" dirty="0"/>
              <a:t> с детерминированным </a:t>
            </a:r>
            <a:r>
              <a:rPr lang="ru-RU" b="1" i="1" dirty="0" err="1"/>
              <a:t>seed</a:t>
            </a:r>
            <a:endParaRPr lang="ru-RU" b="1" i="1" dirty="0"/>
          </a:p>
          <a:p>
            <a:r>
              <a:rPr lang="ru-RU" dirty="0"/>
              <a:t>Статистика: 17 тестов, 17 </a:t>
            </a:r>
            <a:r>
              <a:rPr lang="ru-RU" dirty="0" err="1"/>
              <a:t>passed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 smtClean="0"/>
              <a:t>0</a:t>
            </a:r>
            <a:r>
              <a:rPr lang="ru-RU" dirty="0" smtClean="0"/>
              <a:t>.</a:t>
            </a:r>
            <a:r>
              <a:rPr lang="en-US" dirty="0" smtClean="0"/>
              <a:t>76</a:t>
            </a:r>
            <a:r>
              <a:rPr lang="ru-RU" dirty="0" smtClean="0"/>
              <a:t>s</a:t>
            </a:r>
            <a:r>
              <a:rPr lang="ru-RU" dirty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754" y="3274828"/>
            <a:ext cx="11881775" cy="35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8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1554-D17B-1FA6-E9DD-A9CC3F14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2B2166BC-B661-48DF-CF5E-1A7C34C4A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337E39-69E8-924A-9D20-00419796C7A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A02D85-4A69-5F54-F4EC-3E4695B576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064E9-C144-FCDC-5144-3B556B48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89F02-A522-3420-4DA1-75B659C7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95" y="1342930"/>
            <a:ext cx="10515600" cy="4351338"/>
          </a:xfrm>
        </p:spPr>
        <p:txBody>
          <a:bodyPr/>
          <a:lstStyle/>
          <a:p>
            <a:r>
              <a:rPr lang="ru-RU" dirty="0"/>
              <a:t>Использованные </a:t>
            </a:r>
            <a:r>
              <a:rPr lang="ru-RU" dirty="0" smtClean="0"/>
              <a:t>инструменты:</a:t>
            </a:r>
          </a:p>
          <a:p>
            <a:pPr lvl="1"/>
            <a:r>
              <a:rPr lang="ru-RU" i="1" dirty="0"/>
              <a:t>Язык</a:t>
            </a:r>
            <a:r>
              <a:rPr lang="ru-RU" dirty="0"/>
              <a:t>: </a:t>
            </a:r>
            <a:r>
              <a:rPr lang="en-US" b="1" dirty="0"/>
              <a:t>Python </a:t>
            </a:r>
            <a:r>
              <a:rPr lang="en-US" b="1" dirty="0" smtClean="0"/>
              <a:t>3.10.11</a:t>
            </a:r>
            <a:endParaRPr lang="ru-RU" b="1" dirty="0" smtClean="0"/>
          </a:p>
          <a:p>
            <a:pPr lvl="1"/>
            <a:r>
              <a:rPr lang="ru-RU" i="1" dirty="0" smtClean="0"/>
              <a:t>Библиотека</a:t>
            </a:r>
            <a:r>
              <a:rPr lang="ru-RU" dirty="0" smtClean="0"/>
              <a:t>: </a:t>
            </a:r>
            <a:r>
              <a:rPr lang="en-US" b="1" dirty="0" err="1"/>
              <a:t>PyGame</a:t>
            </a:r>
            <a:r>
              <a:rPr lang="en-US" b="1" dirty="0"/>
              <a:t> </a:t>
            </a:r>
            <a:r>
              <a:rPr lang="en-US" b="1" dirty="0" smtClean="0"/>
              <a:t>2.6.1</a:t>
            </a:r>
            <a:endParaRPr lang="en-US" b="1" dirty="0"/>
          </a:p>
          <a:p>
            <a:pPr lvl="1"/>
            <a:r>
              <a:rPr lang="ru-RU" i="1" dirty="0" smtClean="0"/>
              <a:t>Тестирование</a:t>
            </a:r>
            <a:r>
              <a:rPr lang="ru-RU" dirty="0"/>
              <a:t>: </a:t>
            </a:r>
            <a:r>
              <a:rPr lang="en-US" b="1" dirty="0" err="1"/>
              <a:t>pytest</a:t>
            </a:r>
            <a:r>
              <a:rPr lang="en-US" b="1" dirty="0"/>
              <a:t> 8.3</a:t>
            </a:r>
          </a:p>
          <a:p>
            <a:pPr lvl="1"/>
            <a:r>
              <a:rPr lang="ru-RU" i="1" dirty="0" smtClean="0"/>
              <a:t>Алгоритмы</a:t>
            </a:r>
            <a:r>
              <a:rPr lang="ru-RU" dirty="0"/>
              <a:t>: </a:t>
            </a:r>
            <a:r>
              <a:rPr lang="en-US" b="1" dirty="0"/>
              <a:t>bisect</a:t>
            </a:r>
            <a:r>
              <a:rPr lang="en-US" dirty="0"/>
              <a:t> (</a:t>
            </a:r>
            <a:r>
              <a:rPr lang="ru-RU" dirty="0"/>
              <a:t>стандартная библиотека), </a:t>
            </a:r>
            <a:r>
              <a:rPr lang="en-US" b="1" dirty="0"/>
              <a:t>random</a:t>
            </a:r>
            <a:r>
              <a:rPr lang="en-US" dirty="0"/>
              <a:t> (</a:t>
            </a:r>
            <a:r>
              <a:rPr lang="ru-RU" dirty="0"/>
              <a:t>с изоляцией </a:t>
            </a:r>
            <a:r>
              <a:rPr lang="en-US" b="1" i="1" dirty="0"/>
              <a:t>seed</a:t>
            </a:r>
            <a:r>
              <a:rPr lang="en-US" dirty="0" smtClean="0"/>
              <a:t>)</a:t>
            </a:r>
            <a:endParaRPr lang="ru-RU" dirty="0" smtClean="0"/>
          </a:p>
          <a:p>
            <a:pPr lvl="1"/>
            <a:r>
              <a:rPr lang="ru-RU" i="1" dirty="0"/>
              <a:t>Контроль версий</a:t>
            </a:r>
            <a:r>
              <a:rPr lang="ru-RU" dirty="0"/>
              <a:t>: </a:t>
            </a:r>
            <a:r>
              <a:rPr lang="en-US" b="1" dirty="0" err="1" smtClean="0"/>
              <a:t>Git</a:t>
            </a:r>
            <a:endParaRPr lang="ru-RU" b="1" dirty="0" smtClean="0"/>
          </a:p>
          <a:p>
            <a:pPr lvl="1"/>
            <a:r>
              <a:rPr lang="ru-RU" i="1" dirty="0"/>
              <a:t>Графика</a:t>
            </a:r>
            <a:r>
              <a:rPr lang="ru-RU" dirty="0"/>
              <a:t>: спрайты в </a:t>
            </a:r>
            <a:r>
              <a:rPr lang="ru-RU" b="1" i="1" dirty="0"/>
              <a:t>PNG</a:t>
            </a:r>
            <a:r>
              <a:rPr lang="ru-RU" dirty="0"/>
              <a:t>, масштабирование через </a:t>
            </a:r>
            <a:r>
              <a:rPr lang="ru-RU" b="1" i="1" dirty="0" err="1"/>
              <a:t>smoothscale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37920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DB5F-4704-1D5F-F383-245676E2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20ED58C-1B95-1444-E59E-4F718F570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2B2166BC-B661-48DF-CF5E-1A7C34C4A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F701D7-28D9-8D28-BD2B-E6B31B94436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6B09C8-2C4E-42FC-CFD9-8F5D670206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392EF-D1E2-FF9F-F559-6E0E94F1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История разработки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51071"/>
            <a:ext cx="8777925" cy="4840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1842" y="6248896"/>
            <a:ext cx="1043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Подробнее: </a:t>
            </a: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github.com/KidIsKing/TheFastestCar</a:t>
            </a:r>
            <a:r>
              <a:rPr lang="ru-RU" dirty="0" smtClean="0"/>
              <a:t> или по </a:t>
            </a:r>
            <a:r>
              <a:rPr lang="en-US" dirty="0" smtClean="0"/>
              <a:t>QR-</a:t>
            </a:r>
            <a:r>
              <a:rPr lang="ru-RU" dirty="0" smtClean="0"/>
              <a:t>коду, ведущий в </a:t>
            </a:r>
            <a:r>
              <a:rPr lang="ru-RU" dirty="0" err="1" smtClean="0"/>
              <a:t>репозиторий</a:t>
            </a:r>
            <a:r>
              <a:rPr lang="ru-RU" dirty="0" smtClean="0"/>
              <a:t> проекта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0006" y="1996485"/>
            <a:ext cx="315321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1D69-3770-9DB1-AF50-974FDD3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F95793C-B0D0-BD90-D14B-43EB4571E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20ED58C-1B95-1444-E59E-4F718F570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870481-8EA5-E810-1375-2B0AB19EC07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6CAC4E-8BD5-FBE8-4488-868A589E6B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1AB82-87E4-79ED-5AF3-CAD0CB17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Демонстрация результатов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3094" y="1342930"/>
            <a:ext cx="994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Геймплей</a:t>
            </a:r>
            <a:r>
              <a:rPr lang="ru-RU" dirty="0" smtClean="0"/>
              <a:t> на видео: </a:t>
            </a:r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</a:t>
            </a:r>
            <a:r>
              <a:rPr lang="en-US" dirty="0" smtClean="0">
                <a:hlinkClick r:id="rId6"/>
              </a:rPr>
              <a:t>disk.yandex.ru/d/ndOzvxI_8bMHdA</a:t>
            </a:r>
            <a:r>
              <a:rPr lang="ru-RU" dirty="0" smtClean="0"/>
              <a:t> + на первых слайдах есть скриншоты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764" y="1711610"/>
            <a:ext cx="3153215" cy="3086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78770" y="6400800"/>
            <a:ext cx="540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</a:t>
            </a:r>
            <a:r>
              <a:rPr lang="ru-RU" dirty="0" err="1" smtClean="0"/>
              <a:t>ассеты</a:t>
            </a:r>
            <a:r>
              <a:rPr lang="ru-RU" dirty="0" smtClean="0"/>
              <a:t> будут заменены на новые в скором времени)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487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2114</TotalTime>
  <Words>888</Words>
  <Application>Microsoft Office PowerPoint</Application>
  <PresentationFormat>Широкоэкранный</PresentationFormat>
  <Paragraphs>143</Paragraphs>
  <Slides>16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CorelDRAW</vt:lpstr>
      <vt:lpstr>Презентация PowerPoint</vt:lpstr>
      <vt:lpstr>Основная идея</vt:lpstr>
      <vt:lpstr>Игровые механики</vt:lpstr>
      <vt:lpstr>Требования</vt:lpstr>
      <vt:lpstr>Архитектура проекта. Общий обзор</vt:lpstr>
      <vt:lpstr>Архитектура проекта</vt:lpstr>
      <vt:lpstr>Алгоритмы</vt:lpstr>
      <vt:lpstr>Презентация PowerPoint</vt:lpstr>
      <vt:lpstr>Алгоритмы</vt:lpstr>
      <vt:lpstr>Презентация PowerPoint</vt:lpstr>
      <vt:lpstr>Алгоритмы</vt:lpstr>
      <vt:lpstr>Презентация PowerPoint</vt:lpstr>
      <vt:lpstr>Тестирование </vt:lpstr>
      <vt:lpstr>Стек технологий</vt:lpstr>
      <vt:lpstr>История разработки</vt:lpstr>
      <vt:lpstr>Демонстрация результатов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Пользователь</cp:lastModifiedBy>
  <cp:revision>175</cp:revision>
  <dcterms:created xsi:type="dcterms:W3CDTF">2019-05-31T06:38:44Z</dcterms:created>
  <dcterms:modified xsi:type="dcterms:W3CDTF">2026-05-29T15:08:00Z</dcterms:modified>
</cp:coreProperties>
</file>